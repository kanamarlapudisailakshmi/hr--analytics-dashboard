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4"/>
  </p:sldMasterIdLst>
  <p:notesMasterIdLst>
    <p:notesMasterId r:id="rId17"/>
  </p:notesMasterIdLst>
  <p:handoutMasterIdLst>
    <p:handoutMasterId r:id="rId18"/>
  </p:handoutMasterIdLst>
  <p:sldIdLst>
    <p:sldId id="256" r:id="rId5"/>
    <p:sldId id="283" r:id="rId6"/>
    <p:sldId id="277" r:id="rId7"/>
    <p:sldId id="276" r:id="rId8"/>
    <p:sldId id="279" r:id="rId9"/>
    <p:sldId id="278" r:id="rId10"/>
    <p:sldId id="281" r:id="rId11"/>
    <p:sldId id="280" r:id="rId12"/>
    <p:sldId id="262" r:id="rId13"/>
    <p:sldId id="273" r:id="rId14"/>
    <p:sldId id="275" r:id="rId15"/>
    <p:sldId id="28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amarlapudi Sailakshmi" initials="KS" lastIdx="1" clrIdx="0">
    <p:extLst>
      <p:ext uri="{19B8F6BF-5375-455C-9EA6-DF929625EA0E}">
        <p15:presenceInfo xmlns:p15="http://schemas.microsoft.com/office/powerpoint/2012/main" userId="bbec9f44675c32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71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9"/>
    </p:cViewPr>
  </p:sorterViewPr>
  <p:notesViewPr>
    <p:cSldViewPr snapToGrid="0" showGuide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amarlapudi Sailakshmi" userId="bbec9f44675c3297" providerId="LiveId" clId="{39A2E1BF-1A11-4243-AC93-9AC0EADB3781}"/>
    <pc:docChg chg="undo custSel addSld delSld modSld">
      <pc:chgData name="Kanamarlapudi Sailakshmi" userId="bbec9f44675c3297" providerId="LiveId" clId="{39A2E1BF-1A11-4243-AC93-9AC0EADB3781}" dt="2026-01-08T09:48:19.243" v="298" actId="255"/>
      <pc:docMkLst>
        <pc:docMk/>
      </pc:docMkLst>
      <pc:sldChg chg="modSp mod">
        <pc:chgData name="Kanamarlapudi Sailakshmi" userId="bbec9f44675c3297" providerId="LiveId" clId="{39A2E1BF-1A11-4243-AC93-9AC0EADB3781}" dt="2026-01-08T09:36:21.239" v="250" actId="20577"/>
        <pc:sldMkLst>
          <pc:docMk/>
          <pc:sldMk cId="1652133998" sldId="256"/>
        </pc:sldMkLst>
        <pc:spChg chg="mod">
          <ac:chgData name="Kanamarlapudi Sailakshmi" userId="bbec9f44675c3297" providerId="LiveId" clId="{39A2E1BF-1A11-4243-AC93-9AC0EADB3781}" dt="2026-01-08T09:36:21.239" v="250" actId="20577"/>
          <ac:spMkLst>
            <pc:docMk/>
            <pc:sldMk cId="1652133998" sldId="256"/>
            <ac:spMk id="5" creationId="{0EBE91B4-17EE-C3AD-BBC2-BCC9E6807D61}"/>
          </ac:spMkLst>
        </pc:spChg>
      </pc:sldChg>
      <pc:sldChg chg="delSp modSp del mod">
        <pc:chgData name="Kanamarlapudi Sailakshmi" userId="bbec9f44675c3297" providerId="LiveId" clId="{39A2E1BF-1A11-4243-AC93-9AC0EADB3781}" dt="2026-01-07T20:14:25.314" v="134" actId="47"/>
        <pc:sldMkLst>
          <pc:docMk/>
          <pc:sldMk cId="1654255301" sldId="257"/>
        </pc:sldMkLst>
        <pc:spChg chg="del mod">
          <ac:chgData name="Kanamarlapudi Sailakshmi" userId="bbec9f44675c3297" providerId="LiveId" clId="{39A2E1BF-1A11-4243-AC93-9AC0EADB3781}" dt="2026-01-07T20:14:11.479" v="132" actId="478"/>
          <ac:spMkLst>
            <pc:docMk/>
            <pc:sldMk cId="1654255301" sldId="257"/>
            <ac:spMk id="10" creationId="{87C79C32-2F7F-7E42-3CFF-6ED74E258BB2}"/>
          </ac:spMkLst>
        </pc:spChg>
        <pc:graphicFrameChg chg="del mod modGraphic">
          <ac:chgData name="Kanamarlapudi Sailakshmi" userId="bbec9f44675c3297" providerId="LiveId" clId="{39A2E1BF-1A11-4243-AC93-9AC0EADB3781}" dt="2026-01-07T20:13:50.531" v="114" actId="478"/>
          <ac:graphicFrameMkLst>
            <pc:docMk/>
            <pc:sldMk cId="1654255301" sldId="257"/>
            <ac:graphicFrameMk id="5" creationId="{1E1112C2-791E-9476-C9DA-AC5C3BE28CF2}"/>
          </ac:graphicFrameMkLst>
        </pc:graphicFrameChg>
      </pc:sldChg>
      <pc:sldChg chg="modSp mod">
        <pc:chgData name="Kanamarlapudi Sailakshmi" userId="bbec9f44675c3297" providerId="LiveId" clId="{39A2E1BF-1A11-4243-AC93-9AC0EADB3781}" dt="2026-01-08T09:39:19.351" v="263" actId="20577"/>
        <pc:sldMkLst>
          <pc:docMk/>
          <pc:sldMk cId="2224495804" sldId="262"/>
        </pc:sldMkLst>
        <pc:spChg chg="mod">
          <ac:chgData name="Kanamarlapudi Sailakshmi" userId="bbec9f44675c3297" providerId="LiveId" clId="{39A2E1BF-1A11-4243-AC93-9AC0EADB3781}" dt="2026-01-08T09:39:19.351" v="263" actId="20577"/>
          <ac:spMkLst>
            <pc:docMk/>
            <pc:sldMk cId="2224495804" sldId="262"/>
            <ac:spMk id="32" creationId="{937268C3-1E8D-FA67-77CF-2F8D23FECB6B}"/>
          </ac:spMkLst>
        </pc:spChg>
      </pc:sldChg>
      <pc:sldChg chg="modSp mod">
        <pc:chgData name="Kanamarlapudi Sailakshmi" userId="bbec9f44675c3297" providerId="LiveId" clId="{39A2E1BF-1A11-4243-AC93-9AC0EADB3781}" dt="2026-01-08T09:40:16.814" v="266" actId="113"/>
        <pc:sldMkLst>
          <pc:docMk/>
          <pc:sldMk cId="1995601057" sldId="273"/>
        </pc:sldMkLst>
        <pc:spChg chg="mod">
          <ac:chgData name="Kanamarlapudi Sailakshmi" userId="bbec9f44675c3297" providerId="LiveId" clId="{39A2E1BF-1A11-4243-AC93-9AC0EADB3781}" dt="2026-01-08T09:39:54.706" v="265" actId="113"/>
          <ac:spMkLst>
            <pc:docMk/>
            <pc:sldMk cId="1995601057" sldId="273"/>
            <ac:spMk id="13" creationId="{B86A214F-7C74-4F13-0A03-6891464BD5F1}"/>
          </ac:spMkLst>
        </pc:spChg>
        <pc:spChg chg="mod">
          <ac:chgData name="Kanamarlapudi Sailakshmi" userId="bbec9f44675c3297" providerId="LiveId" clId="{39A2E1BF-1A11-4243-AC93-9AC0EADB3781}" dt="2026-01-08T09:40:16.814" v="266" actId="113"/>
          <ac:spMkLst>
            <pc:docMk/>
            <pc:sldMk cId="1995601057" sldId="273"/>
            <ac:spMk id="20" creationId="{3482CA7B-A61F-76B9-6F07-2CF8D7A2FDF9}"/>
          </ac:spMkLst>
        </pc:spChg>
        <pc:spChg chg="mod">
          <ac:chgData name="Kanamarlapudi Sailakshmi" userId="bbec9f44675c3297" providerId="LiveId" clId="{39A2E1BF-1A11-4243-AC93-9AC0EADB3781}" dt="2026-01-07T20:04:29.833" v="40" actId="113"/>
          <ac:spMkLst>
            <pc:docMk/>
            <pc:sldMk cId="1995601057" sldId="273"/>
            <ac:spMk id="22" creationId="{3A2C1707-70C5-FE98-6C70-A2F6A7A27537}"/>
          </ac:spMkLst>
        </pc:spChg>
      </pc:sldChg>
      <pc:sldChg chg="modSp mod">
        <pc:chgData name="Kanamarlapudi Sailakshmi" userId="bbec9f44675c3297" providerId="LiveId" clId="{39A2E1BF-1A11-4243-AC93-9AC0EADB3781}" dt="2026-01-08T09:44:43.108" v="272"/>
        <pc:sldMkLst>
          <pc:docMk/>
          <pc:sldMk cId="1796241726" sldId="275"/>
        </pc:sldMkLst>
        <pc:spChg chg="mod">
          <ac:chgData name="Kanamarlapudi Sailakshmi" userId="bbec9f44675c3297" providerId="LiveId" clId="{39A2E1BF-1A11-4243-AC93-9AC0EADB3781}" dt="2026-01-08T09:44:34.978" v="271"/>
          <ac:spMkLst>
            <pc:docMk/>
            <pc:sldMk cId="1796241726" sldId="275"/>
            <ac:spMk id="2" creationId="{FDDF0ADA-FE9B-9008-DDB8-3ECFA4C87A8C}"/>
          </ac:spMkLst>
        </pc:spChg>
        <pc:spChg chg="mod">
          <ac:chgData name="Kanamarlapudi Sailakshmi" userId="bbec9f44675c3297" providerId="LiveId" clId="{39A2E1BF-1A11-4243-AC93-9AC0EADB3781}" dt="2026-01-08T09:44:43.108" v="272"/>
          <ac:spMkLst>
            <pc:docMk/>
            <pc:sldMk cId="1796241726" sldId="275"/>
            <ac:spMk id="3" creationId="{8E082B6E-9DEF-EA10-A825-663DA1DAED50}"/>
          </ac:spMkLst>
        </pc:spChg>
        <pc:spChg chg="mod">
          <ac:chgData name="Kanamarlapudi Sailakshmi" userId="bbec9f44675c3297" providerId="LiveId" clId="{39A2E1BF-1A11-4243-AC93-9AC0EADB3781}" dt="2026-01-07T20:04:46.552" v="41" actId="255"/>
          <ac:spMkLst>
            <pc:docMk/>
            <pc:sldMk cId="1796241726" sldId="275"/>
            <ac:spMk id="8" creationId="{8440DB68-3859-73A3-5BE1-A3A4663A986C}"/>
          </ac:spMkLst>
        </pc:spChg>
      </pc:sldChg>
      <pc:sldChg chg="modSp mod">
        <pc:chgData name="Kanamarlapudi Sailakshmi" userId="bbec9f44675c3297" providerId="LiveId" clId="{39A2E1BF-1A11-4243-AC93-9AC0EADB3781}" dt="2026-01-07T20:02:25.880" v="33" actId="255"/>
        <pc:sldMkLst>
          <pc:docMk/>
          <pc:sldMk cId="1470578902" sldId="277"/>
        </pc:sldMkLst>
        <pc:spChg chg="mod">
          <ac:chgData name="Kanamarlapudi Sailakshmi" userId="bbec9f44675c3297" providerId="LiveId" clId="{39A2E1BF-1A11-4243-AC93-9AC0EADB3781}" dt="2026-01-07T20:02:25.880" v="33" actId="255"/>
          <ac:spMkLst>
            <pc:docMk/>
            <pc:sldMk cId="1470578902" sldId="277"/>
            <ac:spMk id="3" creationId="{F1E88B4E-2E91-561C-D1ED-4CAAB5CFB116}"/>
          </ac:spMkLst>
        </pc:spChg>
      </pc:sldChg>
      <pc:sldChg chg="modSp mod">
        <pc:chgData name="Kanamarlapudi Sailakshmi" userId="bbec9f44675c3297" providerId="LiveId" clId="{39A2E1BF-1A11-4243-AC93-9AC0EADB3781}" dt="2026-01-08T09:46:42.247" v="290" actId="20577"/>
        <pc:sldMkLst>
          <pc:docMk/>
          <pc:sldMk cId="3309652399" sldId="279"/>
        </pc:sldMkLst>
        <pc:spChg chg="mod">
          <ac:chgData name="Kanamarlapudi Sailakshmi" userId="bbec9f44675c3297" providerId="LiveId" clId="{39A2E1BF-1A11-4243-AC93-9AC0EADB3781}" dt="2026-01-08T09:46:42.247" v="290" actId="20577"/>
          <ac:spMkLst>
            <pc:docMk/>
            <pc:sldMk cId="3309652399" sldId="279"/>
            <ac:spMk id="3" creationId="{E1E98683-68AA-10D3-155B-73981B44658A}"/>
          </ac:spMkLst>
        </pc:spChg>
      </pc:sldChg>
      <pc:sldChg chg="modSp mod">
        <pc:chgData name="Kanamarlapudi Sailakshmi" userId="bbec9f44675c3297" providerId="LiveId" clId="{39A2E1BF-1A11-4243-AC93-9AC0EADB3781}" dt="2026-01-08T09:44:06.813" v="270"/>
        <pc:sldMkLst>
          <pc:docMk/>
          <pc:sldMk cId="1242361808" sldId="281"/>
        </pc:sldMkLst>
        <pc:spChg chg="mod">
          <ac:chgData name="Kanamarlapudi Sailakshmi" userId="bbec9f44675c3297" providerId="LiveId" clId="{39A2E1BF-1A11-4243-AC93-9AC0EADB3781}" dt="2026-01-08T09:44:06.813" v="270"/>
          <ac:spMkLst>
            <pc:docMk/>
            <pc:sldMk cId="1242361808" sldId="281"/>
            <ac:spMk id="3" creationId="{B71390BB-39AD-3025-51F5-74539CB7E8F0}"/>
          </ac:spMkLst>
        </pc:spChg>
      </pc:sldChg>
      <pc:sldChg chg="modSp new mod">
        <pc:chgData name="Kanamarlapudi Sailakshmi" userId="bbec9f44675c3297" providerId="LiveId" clId="{39A2E1BF-1A11-4243-AC93-9AC0EADB3781}" dt="2026-01-08T09:48:19.243" v="298" actId="255"/>
        <pc:sldMkLst>
          <pc:docMk/>
          <pc:sldMk cId="1629041166" sldId="283"/>
        </pc:sldMkLst>
        <pc:spChg chg="mod">
          <ac:chgData name="Kanamarlapudi Sailakshmi" userId="bbec9f44675c3297" providerId="LiveId" clId="{39A2E1BF-1A11-4243-AC93-9AC0EADB3781}" dt="2026-01-07T20:15:10.596" v="157" actId="14100"/>
          <ac:spMkLst>
            <pc:docMk/>
            <pc:sldMk cId="1629041166" sldId="283"/>
            <ac:spMk id="2" creationId="{8624AAFE-93F1-5821-1AA4-2D816630B82D}"/>
          </ac:spMkLst>
        </pc:spChg>
        <pc:spChg chg="mod">
          <ac:chgData name="Kanamarlapudi Sailakshmi" userId="bbec9f44675c3297" providerId="LiveId" clId="{39A2E1BF-1A11-4243-AC93-9AC0EADB3781}" dt="2026-01-08T09:48:19.243" v="298" actId="255"/>
          <ac:spMkLst>
            <pc:docMk/>
            <pc:sldMk cId="1629041166" sldId="283"/>
            <ac:spMk id="3" creationId="{8E96378A-8197-54B5-1ED7-91F7EF14D03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1/8/2026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1/8/2026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98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06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01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41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374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09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1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8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081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128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9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8932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81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24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8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33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691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4318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8239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40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51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  <p:sldLayoutId id="2147483823" r:id="rId18"/>
    <p:sldLayoutId id="2147483824" r:id="rId19"/>
    <p:sldLayoutId id="2147483825" r:id="rId20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tr.pinterest.com/pin/get-thank-you-powerpoint-and-google-slides-template--697846904775950637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955610" y="150125"/>
            <a:ext cx="10494862" cy="1188615"/>
          </a:xfrm>
        </p:spPr>
        <p:txBody>
          <a:bodyPr anchor="ctr">
            <a:normAutofit/>
          </a:bodyPr>
          <a:lstStyle/>
          <a:p>
            <a:r>
              <a:rPr lang="en-IN" sz="3200" dirty="0">
                <a:latin typeface="Arial Black" panose="020B0A04020102020204" pitchFamily="34" charset="0"/>
              </a:rPr>
              <a:t>HR Analytics Dashboard Portfolio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EBE91B4-17EE-C3AD-BBC2-BCC9E6807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899" y="3802575"/>
            <a:ext cx="6525051" cy="2768318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BY</a:t>
            </a:r>
          </a:p>
          <a:p>
            <a:r>
              <a:rPr lang="en-US" dirty="0"/>
              <a:t>     </a:t>
            </a:r>
            <a:r>
              <a:rPr lang="en-US" b="1" dirty="0"/>
              <a:t>1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 Soubhagya Kumar Burma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2. Rutuja Gaikwad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3. B R Shanmukhi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4.KANAMARLAPUDI SAILAKSHMI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5. Manisha Vaidya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6. Yusuf has patel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  7. Muhammed shibinuu</a:t>
            </a:r>
          </a:p>
          <a:p>
            <a:endParaRPr lang="en-IN" dirty="0"/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ACCC27F6-8C0D-A10B-0A9C-A2D2CD650D9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98" b="9598"/>
          <a:stretch>
            <a:fillRect/>
          </a:stretch>
        </p:blipFill>
        <p:spPr>
          <a:xfrm>
            <a:off x="6619164" y="2947917"/>
            <a:ext cx="4603845" cy="3622976"/>
          </a:xfrm>
        </p:spPr>
      </p:pic>
      <p:sp>
        <p:nvSpPr>
          <p:cNvPr id="2" name="Subtitle 6">
            <a:extLst>
              <a:ext uri="{FF2B5EF4-FFF2-40B4-BE49-F238E27FC236}">
                <a16:creationId xmlns:a16="http://schemas.microsoft.com/office/drawing/2014/main" id="{FA0FF60F-CF1A-E671-B710-616F51D4F27C}"/>
              </a:ext>
            </a:extLst>
          </p:cNvPr>
          <p:cNvSpPr txBox="1">
            <a:spLocks/>
          </p:cNvSpPr>
          <p:nvPr/>
        </p:nvSpPr>
        <p:spPr>
          <a:xfrm>
            <a:off x="627797" y="1301179"/>
            <a:ext cx="6197772" cy="185751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Arial Black" panose="020B0A04020102020204" pitchFamily="34" charset="0"/>
              </a:rPr>
              <a:t>Tools</a:t>
            </a:r>
          </a:p>
          <a:p>
            <a:endParaRPr lang="en-IN" dirty="0"/>
          </a:p>
          <a:p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Excel | Power BI | Tableau | SQL</a:t>
            </a:r>
          </a:p>
          <a:p>
            <a:endParaRPr lang="en-IN" dirty="0"/>
          </a:p>
          <a:p>
            <a:r>
              <a:rPr lang="en-IN" b="1" dirty="0">
                <a:latin typeface="Arial Black" panose="020B0A04020102020204" pitchFamily="34" charset="0"/>
              </a:rPr>
              <a:t>Domain</a:t>
            </a:r>
          </a:p>
          <a:p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Human Resources Analytics</a:t>
            </a:r>
          </a:p>
          <a:p>
            <a:endParaRPr lang="en-US" dirty="0"/>
          </a:p>
        </p:txBody>
      </p:sp>
      <p:sp>
        <p:nvSpPr>
          <p:cNvPr id="3" name="Subtitle 6">
            <a:extLst>
              <a:ext uri="{FF2B5EF4-FFF2-40B4-BE49-F238E27FC236}">
                <a16:creationId xmlns:a16="http://schemas.microsoft.com/office/drawing/2014/main" id="{7C07FF05-976D-71AD-2CC4-681CB044EC78}"/>
              </a:ext>
            </a:extLst>
          </p:cNvPr>
          <p:cNvSpPr txBox="1">
            <a:spLocks/>
          </p:cNvSpPr>
          <p:nvPr/>
        </p:nvSpPr>
        <p:spPr>
          <a:xfrm>
            <a:off x="6400801" y="5556821"/>
            <a:ext cx="8612154" cy="130117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b="1" dirty="0">
              <a:solidFill>
                <a:schemeClr val="bg2">
                  <a:lumMod val="50000"/>
                </a:schemeClr>
              </a:solidFill>
              <a:latin typeface="Arial Narrow" panose="020B060602020203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2E3DDAE-8CB0-1095-F74F-D9D7F8664FA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1" y="545823"/>
            <a:ext cx="4729370" cy="290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AAFE-93F1-5821-1AA4-2D816630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63774"/>
            <a:ext cx="9690535" cy="102358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Project Overview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6378A-8197-54B5-1ED7-91F7EF14D0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187356"/>
            <a:ext cx="10363825" cy="4844954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900" b="1" dirty="0">
                <a:latin typeface="Arial Black" panose="020B0A04020102020204" pitchFamily="34" charset="0"/>
              </a:rPr>
              <a:t>Objective:</a:t>
            </a:r>
            <a:br>
              <a:rPr lang="en-US" dirty="0"/>
            </a:br>
            <a:r>
              <a:rPr lang="en-US" dirty="0"/>
              <a:t> </a:t>
            </a:r>
            <a:r>
              <a:rPr lang="en-US" sz="1900" cap="none" dirty="0">
                <a:latin typeface="Calibri" panose="020F0502020204030204" pitchFamily="34" charset="0"/>
                <a:cs typeface="Calibri" panose="020F0502020204030204" pitchFamily="34" charset="0"/>
              </a:rPr>
              <a:t>To analyse employee attrition patterns and identify key workforce trends affecting retention.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b="1" dirty="0">
                <a:latin typeface="Arial Black" panose="020B0A04020102020204" pitchFamily="34" charset="0"/>
              </a:rPr>
              <a:t>Datasets Used:</a:t>
            </a:r>
            <a:br>
              <a:rPr lang="en-US" sz="1900" dirty="0">
                <a:latin typeface="Arial Black" panose="020B0A04020102020204" pitchFamily="34" charset="0"/>
              </a:rPr>
            </a:br>
            <a:r>
              <a:rPr lang="en-US" sz="1900" dirty="0">
                <a:latin typeface="Arial Black" panose="020B0A04020102020204" pitchFamily="34" charset="0"/>
              </a:rPr>
              <a:t> </a:t>
            </a:r>
            <a:r>
              <a:rPr lang="en-US" sz="1900" cap="none" dirty="0">
                <a:latin typeface="Calibri" panose="020F0502020204030204" pitchFamily="34" charset="0"/>
                <a:cs typeface="Calibri" panose="020F0502020204030204" pitchFamily="34" charset="0"/>
              </a:rPr>
              <a:t>HR_1 and HR_2 datasets containing approximately 50,000 employee records.</a:t>
            </a:r>
            <a:endParaRPr lang="en-US" sz="1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b="1" dirty="0">
                <a:latin typeface="Arial Black" panose="020B0A04020102020204" pitchFamily="34" charset="0"/>
              </a:rPr>
              <a:t>Approach:</a:t>
            </a:r>
            <a:br>
              <a:rPr lang="en-US" dirty="0"/>
            </a:br>
            <a:r>
              <a:rPr lang="en-US" cap="none" dirty="0">
                <a:latin typeface="Calibri" panose="020F0502020204030204" pitchFamily="34" charset="0"/>
                <a:cs typeface="Calibri" panose="020F0502020204030204" pitchFamily="34" charset="0"/>
              </a:rPr>
              <a:t>Kpis are designed and aligned with real-world business and HR decision-making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900" b="1" dirty="0">
                <a:latin typeface="Arial Black" panose="020B0A04020102020204" pitchFamily="34" charset="0"/>
              </a:rPr>
              <a:t>Common KPIs Across Dashboards:</a:t>
            </a:r>
            <a:endParaRPr lang="en-US" sz="1900" dirty="0">
              <a:latin typeface="Arial Black" panose="020B0A0402010202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cap="none" dirty="0">
                <a:latin typeface="Calibri" panose="020F0502020204030204" pitchFamily="34" charset="0"/>
                <a:cs typeface="Calibri" panose="020F0502020204030204" pitchFamily="34" charset="0"/>
              </a:rPr>
              <a:t>Average attrition rate by department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cap="none" dirty="0">
                <a:latin typeface="Calibri" panose="020F0502020204030204" pitchFamily="34" charset="0"/>
                <a:cs typeface="Calibri" panose="020F0502020204030204" pitchFamily="34" charset="0"/>
              </a:rPr>
              <a:t>Average hourly rate (male – research scientist)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cap="none" dirty="0">
                <a:latin typeface="Calibri" panose="020F0502020204030204" pitchFamily="34" charset="0"/>
                <a:cs typeface="Calibri" panose="020F0502020204030204" pitchFamily="34" charset="0"/>
              </a:rPr>
              <a:t>Attrition vs monthly income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cap="none" dirty="0">
                <a:latin typeface="Calibri" panose="020F0502020204030204" pitchFamily="34" charset="0"/>
                <a:cs typeface="Calibri" panose="020F0502020204030204" pitchFamily="34" charset="0"/>
              </a:rPr>
              <a:t>Average working years by department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cap="none" dirty="0">
                <a:latin typeface="Calibri" panose="020F0502020204030204" pitchFamily="34" charset="0"/>
                <a:cs typeface="Calibri" panose="020F0502020204030204" pitchFamily="34" charset="0"/>
              </a:rPr>
              <a:t>Job role vs work–life balance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cap="none" dirty="0">
                <a:latin typeface="Calibri" panose="020F0502020204030204" pitchFamily="34" charset="0"/>
                <a:cs typeface="Calibri" panose="020F0502020204030204" pitchFamily="34" charset="0"/>
              </a:rPr>
              <a:t>Attrition vs years since last promotion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9041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1DBD5-D213-20DC-8625-02C4AA59A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3288" y="0"/>
            <a:ext cx="5473148" cy="649357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EXCEL HR ANALYTICS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88B4E-2E91-561C-D1ED-4CAAB5CFB1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755375"/>
            <a:ext cx="9754226" cy="54996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600" b="1" dirty="0">
                <a:latin typeface="Arial Black" panose="020B0A04020102020204" pitchFamily="34" charset="0"/>
              </a:rPr>
              <a:t>Tool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Microsoft Excel</a:t>
            </a:r>
          </a:p>
          <a:p>
            <a:pPr marL="0" indent="0">
              <a:buNone/>
            </a:pPr>
            <a:r>
              <a:rPr lang="en-US" sz="1600" b="1" dirty="0">
                <a:latin typeface="Arial Black" panose="020B0A04020102020204" pitchFamily="34" charset="0"/>
                <a:cs typeface="Arial" panose="020B0604020202020204" pitchFamily="34" charset="0"/>
              </a:rPr>
              <a:t>Techniques Used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Pivot Tables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Pivot Charts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Advanced Excel Formulas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Data Cleaning &amp; Formatting</a:t>
            </a:r>
          </a:p>
          <a:p>
            <a:pPr marL="0" indent="0">
              <a:buNone/>
            </a:pPr>
            <a:r>
              <a:rPr lang="en-IN" sz="1600" dirty="0">
                <a:latin typeface="Arial Black" panose="020B0A04020102020204" pitchFamily="34" charset="0"/>
                <a:cs typeface="Arial" panose="020B0604020202020204" pitchFamily="34" charset="0"/>
              </a:rPr>
              <a:t>Key 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Attrition varies significantly across departments.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Higher attrition in early working years (0–3 years).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certain job roles show higher attrition risk.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Work–life balance has a noticeable impact on employee retention.</a:t>
            </a:r>
          </a:p>
          <a:p>
            <a:pPr marL="0" indent="0">
              <a:buNone/>
            </a:pPr>
            <a:r>
              <a:rPr lang="en-US" sz="1600" dirty="0">
                <a:latin typeface="Arial Black" panose="020B0A04020102020204" pitchFamily="34" charset="0"/>
                <a:cs typeface="Arial" panose="020B0604020202020204" pitchFamily="34" charset="0"/>
              </a:rPr>
              <a:t>Conclusion: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This dashboard provides a high-level overview of workforce size, attrition patterns, and employee experience.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It helps identify high-risk departments and job roles requiring HR intervention.</a:t>
            </a:r>
          </a:p>
          <a:p>
            <a:pPr marL="0" indent="0">
              <a:buNone/>
            </a:pPr>
            <a:endParaRPr lang="en-US" sz="140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0578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BB552-28B2-8675-209F-27E845EF3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322" y="291548"/>
            <a:ext cx="8415130" cy="1139688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 Black" panose="020B0A04020102020204" pitchFamily="34" charset="0"/>
              </a:rPr>
              <a:t>Excel Dashboard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A237200-79CC-30C2-5515-439C6560DD5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354" y="1431236"/>
            <a:ext cx="8965066" cy="4711148"/>
          </a:xfrm>
        </p:spPr>
      </p:pic>
    </p:spTree>
    <p:extLst>
      <p:ext uri="{BB962C8B-B14F-4D97-AF65-F5344CB8AC3E}">
        <p14:creationId xmlns:p14="http://schemas.microsoft.com/office/powerpoint/2010/main" val="2515144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69F18-DD0D-0CF0-18FD-54D720E3C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636" y="159027"/>
            <a:ext cx="7858538" cy="115294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Power bi </a:t>
            </a:r>
            <a:r>
              <a:rPr lang="en-US" sz="2800" b="1" dirty="0" err="1">
                <a:latin typeface="Arial Black" panose="020B0A04020102020204" pitchFamily="34" charset="0"/>
                <a:cs typeface="Arial" panose="020B0604020202020204" pitchFamily="34" charset="0"/>
              </a:rPr>
              <a:t>hr</a:t>
            </a:r>
            <a:r>
              <a:rPr lang="en-US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 analytics </a:t>
            </a:r>
            <a:endParaRPr lang="en-IN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98683-68AA-10D3-155B-73981B4465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311967"/>
            <a:ext cx="10271061" cy="502257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latin typeface="Arial Black" panose="020B0A04020102020204" pitchFamily="34" charset="0"/>
                <a:cs typeface="Arial" panose="020B0604020202020204" pitchFamily="34" charset="0"/>
              </a:rPr>
              <a:t>Tool</a:t>
            </a:r>
            <a:r>
              <a:rPr lang="en-US" sz="1700" b="1" dirty="0">
                <a:latin typeface="Arial Black" panose="020B0A04020102020204" pitchFamily="34" charset="0"/>
                <a:cs typeface="Arial" panose="020B0604020202020204" pitchFamily="34" charset="0"/>
              </a:rPr>
              <a:t>:</a:t>
            </a:r>
            <a:r>
              <a:rPr lang="en-US" sz="1700" dirty="0">
                <a:latin typeface="Arial Black" panose="020B0A0402010202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power bi </a:t>
            </a:r>
            <a:br>
              <a:rPr lang="en-US" dirty="0"/>
            </a:br>
            <a:r>
              <a:rPr lang="en-US" sz="1700" b="1" dirty="0">
                <a:latin typeface="Arial Black" panose="020B0A04020102020204" pitchFamily="34" charset="0"/>
                <a:cs typeface="Arial" panose="020B0604020202020204" pitchFamily="34" charset="0"/>
              </a:rPr>
              <a:t>Techniques</a:t>
            </a:r>
            <a:r>
              <a:rPr lang="en-US" sz="1700" b="1" dirty="0">
                <a:latin typeface="Arial Black" panose="020B0A04020102020204" pitchFamily="34" charset="0"/>
              </a:rPr>
              <a:t>:</a:t>
            </a:r>
            <a:r>
              <a:rPr lang="en-US" sz="1700" dirty="0">
                <a:latin typeface="Arial Black" panose="020B0A04020102020204" pitchFamily="34" charset="0"/>
              </a:rPr>
              <a:t>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Power Query, Data Modeling, DAX.</a:t>
            </a:r>
          </a:p>
          <a:p>
            <a:pPr marL="0" indent="0">
              <a:buNone/>
            </a:pPr>
            <a:r>
              <a:rPr lang="en-US" sz="1700" dirty="0">
                <a:latin typeface="Arial Black" panose="020B0A04020102020204" pitchFamily="34" charset="0"/>
                <a:cs typeface="Arial" panose="020B0604020202020204" pitchFamily="34" charset="0"/>
              </a:rPr>
              <a:t>Power BI HR Analytics – 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cap="none" dirty="0">
                <a:latin typeface="Calibri" panose="020F0502020204030204" pitchFamily="34" charset="0"/>
                <a:cs typeface="Calibri" panose="020F0502020204030204" pitchFamily="34" charset="0"/>
              </a:rPr>
              <a:t>Interactive dashboards reveal hidden attrition trends.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cap="none" dirty="0">
                <a:latin typeface="Calibri" panose="020F0502020204030204" pitchFamily="34" charset="0"/>
                <a:cs typeface="Calibri" panose="020F0502020204030204" pitchFamily="34" charset="0"/>
              </a:rPr>
              <a:t>Age group 26–35 shows the highest attrition.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cap="none" dirty="0">
                <a:latin typeface="Calibri" panose="020F0502020204030204" pitchFamily="34" charset="0"/>
                <a:cs typeface="Calibri" panose="020F0502020204030204" pitchFamily="34" charset="0"/>
              </a:rPr>
              <a:t>Salary slabs below average show higher employee exits.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cap="none" dirty="0">
                <a:latin typeface="Calibri" panose="020F0502020204030204" pitchFamily="34" charset="0"/>
                <a:cs typeface="Calibri" panose="020F0502020204030204" pitchFamily="34" charset="0"/>
              </a:rPr>
              <a:t> Attrition patterns vary across job roles and departments</a:t>
            </a:r>
            <a:br>
              <a:rPr lang="en-US" sz="16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cap="none" dirty="0">
                <a:latin typeface="Calibri" panose="020F0502020204030204" pitchFamily="34" charset="0"/>
                <a:cs typeface="Calibri" panose="020F0502020204030204" pitchFamily="34" charset="0"/>
              </a:rPr>
              <a:t> enables role-based retention strategy.</a:t>
            </a:r>
          </a:p>
          <a:p>
            <a:pPr marL="0" indent="0">
              <a:buNone/>
            </a:pPr>
            <a:r>
              <a:rPr lang="en-IN" sz="1700" dirty="0">
                <a:latin typeface="Arial Black" panose="020B0A04020102020204" pitchFamily="34" charset="0"/>
                <a:cs typeface="Arial" panose="020B0604020202020204" pitchFamily="34" charset="0"/>
              </a:rPr>
              <a:t>Conclusion: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cap="none" dirty="0">
                <a:latin typeface="Calibri" panose="020F0502020204030204" pitchFamily="34" charset="0"/>
                <a:cs typeface="Calibri" panose="020F0502020204030204" pitchFamily="34" charset="0"/>
              </a:rPr>
              <a:t>This dashboard focuses on understanding attrition patterns using income bands, promotions, job roles, and demographics.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cap="none" dirty="0">
                <a:latin typeface="Calibri" panose="020F0502020204030204" pitchFamily="34" charset="0"/>
                <a:cs typeface="Calibri" panose="020F0502020204030204" pitchFamily="34" charset="0"/>
              </a:rPr>
              <a:t>It highlights relationships between salary, work–life balance, and career progression with employee exits.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cap="none" dirty="0">
                <a:latin typeface="Calibri" panose="020F0502020204030204" pitchFamily="34" charset="0"/>
                <a:cs typeface="Calibri" panose="020F0502020204030204" pitchFamily="34" charset="0"/>
              </a:rPr>
              <a:t> The analysis supports Hrteams in identifying root causes behind attrition trends.</a:t>
            </a:r>
            <a:endParaRPr lang="en-IN" sz="1600" cap="non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65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A4AB4-A99D-83A0-D463-067165C16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9130" y="225287"/>
            <a:ext cx="8004313" cy="129871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 Black" panose="020B0A04020102020204" pitchFamily="34" charset="0"/>
                <a:cs typeface="Arial" panose="020B0604020202020204" pitchFamily="34" charset="0"/>
              </a:rPr>
              <a:t>Power bi dashboard</a:t>
            </a:r>
            <a:endParaRPr lang="en-IN" sz="28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EEF7DB03-B3E5-41C4-255B-E36DFB91E1C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835" y="1422433"/>
            <a:ext cx="8786191" cy="4757014"/>
          </a:xfrm>
        </p:spPr>
      </p:pic>
    </p:spTree>
    <p:extLst>
      <p:ext uri="{BB962C8B-B14F-4D97-AF65-F5344CB8AC3E}">
        <p14:creationId xmlns:p14="http://schemas.microsoft.com/office/powerpoint/2010/main" val="1036870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5B935-9860-2A9D-8645-B3148A97B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461" y="0"/>
            <a:ext cx="7315200" cy="861391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 Black" panose="020B0A04020102020204" pitchFamily="34" charset="0"/>
                <a:cs typeface="Arial" panose="020B0604020202020204" pitchFamily="34" charset="0"/>
              </a:rPr>
              <a:t>Tableau HR Analytics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390BB-39AD-3025-51F5-74539CB7E8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5860" y="1020417"/>
            <a:ext cx="10906540" cy="583758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dirty="0">
                <a:latin typeface="Arial Black" panose="020B0A04020102020204" pitchFamily="34" charset="0"/>
                <a:cs typeface="Arial" panose="020B0604020202020204" pitchFamily="34" charset="0"/>
              </a:rPr>
              <a:t>Tool: Tableau</a:t>
            </a:r>
          </a:p>
          <a:p>
            <a:pPr marL="0" indent="0">
              <a:buNone/>
            </a:pPr>
            <a:r>
              <a:rPr lang="en-US" sz="6400" dirty="0">
                <a:latin typeface="Arial Black" panose="020B0A04020102020204" pitchFamily="34" charset="0"/>
                <a:cs typeface="Arial" panose="020B0604020202020204" pitchFamily="34" charset="0"/>
              </a:rPr>
              <a:t>Features: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6400" cap="none" dirty="0">
                <a:latin typeface="Calibri" panose="020F0502020204030204" pitchFamily="34" charset="0"/>
                <a:cs typeface="Calibri" panose="020F0502020204030204" pitchFamily="34" charset="0"/>
              </a:rPr>
              <a:t>Interactive filters.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6400" cap="none" dirty="0">
                <a:latin typeface="Calibri" panose="020F0502020204030204" pitchFamily="34" charset="0"/>
                <a:cs typeface="Calibri" panose="020F0502020204030204" pitchFamily="34" charset="0"/>
              </a:rPr>
              <a:t>Deviation from average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6400" cap="none" dirty="0">
                <a:latin typeface="Calibri" panose="020F0502020204030204" pitchFamily="34" charset="0"/>
                <a:cs typeface="Calibri" panose="020F0502020204030204" pitchFamily="34" charset="0"/>
              </a:rPr>
              <a:t>Department comparison dashboards</a:t>
            </a:r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IN" sz="6400" b="1" dirty="0">
                <a:latin typeface="Arial Black" panose="020B0A04020102020204" pitchFamily="34" charset="0"/>
                <a:cs typeface="Arial" panose="020B0604020202020204" pitchFamily="34" charset="0"/>
              </a:rPr>
              <a:t>Tableau HR Analytics – Insights: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6400" cap="none" dirty="0">
                <a:latin typeface="Calibri" panose="020F0502020204030204" pitchFamily="34" charset="0"/>
                <a:cs typeface="Calibri" panose="020F0502020204030204" pitchFamily="34" charset="0"/>
              </a:rPr>
              <a:t>Deviation from average highlights problem areas.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6400" cap="none" dirty="0">
                <a:latin typeface="Calibri" panose="020F0502020204030204" pitchFamily="34" charset="0"/>
                <a:cs typeface="Calibri" panose="020F0502020204030204" pitchFamily="34" charset="0"/>
              </a:rPr>
              <a:t>Promotion delays are strongly linked to employee attrition.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6400" cap="none" dirty="0">
                <a:latin typeface="Calibri" panose="020F0502020204030204" pitchFamily="34" charset="0"/>
                <a:cs typeface="Calibri" panose="020F0502020204030204" pitchFamily="34" charset="0"/>
              </a:rPr>
              <a:t> Attrition varies significantly across departments.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6400" cap="none" dirty="0">
                <a:latin typeface="Calibri" panose="020F0502020204030204" pitchFamily="34" charset="0"/>
                <a:cs typeface="Calibri" panose="020F0502020204030204" pitchFamily="34" charset="0"/>
              </a:rPr>
              <a:t>Clear visual comparison improves insight discovery.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6400" cap="none" dirty="0">
                <a:latin typeface="Calibri" panose="020F0502020204030204" pitchFamily="34" charset="0"/>
                <a:cs typeface="Calibri" panose="020F0502020204030204" pitchFamily="34" charset="0"/>
              </a:rPr>
              <a:t> Strong visual storytelling supports leadership decision-making.</a:t>
            </a:r>
          </a:p>
          <a:p>
            <a:pPr marL="0" indent="0">
              <a:buNone/>
            </a:pPr>
            <a:r>
              <a:rPr lang="en-IN" sz="6400" b="1" dirty="0">
                <a:latin typeface="Arial Black" panose="020B0A04020102020204" pitchFamily="34" charset="0"/>
                <a:cs typeface="Arial" panose="020B0604020202020204" pitchFamily="34" charset="0"/>
              </a:rPr>
              <a:t>Conclusion: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6400" cap="none" dirty="0">
                <a:latin typeface="Calibri" panose="020F0502020204030204" pitchFamily="34" charset="0"/>
                <a:cs typeface="Calibri" panose="020F0502020204030204" pitchFamily="34" charset="0"/>
              </a:rPr>
              <a:t>This dashboard provides an in-depth analysis of employee performance, compensation, experience, and satisfaction metrics.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6400" cap="none" dirty="0">
                <a:latin typeface="Calibri" panose="020F0502020204030204" pitchFamily="34" charset="0"/>
                <a:cs typeface="Calibri" panose="020F0502020204030204" pitchFamily="34" charset="0"/>
              </a:rPr>
              <a:t>It examines how attrition varies with hike percentage, promotion timelines, income ranges, and departmental tenure.</a:t>
            </a:r>
            <a:br>
              <a:rPr lang="en-US" sz="64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N" sz="6400" b="1" cap="non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361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506BC-3CF1-84B3-6DE1-305030E7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2227" y="106017"/>
            <a:ext cx="6749050" cy="960783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Arial Black" panose="020B0A04020102020204" pitchFamily="34" charset="0"/>
              </a:rPr>
              <a:t>Tableau HR Analytics Dashboard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EBA946AE-07F1-6BF2-F8BD-36573BCCDF8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348" y="1563757"/>
            <a:ext cx="8613914" cy="4373218"/>
          </a:xfrm>
        </p:spPr>
      </p:pic>
    </p:spTree>
    <p:extLst>
      <p:ext uri="{BB962C8B-B14F-4D97-AF65-F5344CB8AC3E}">
        <p14:creationId xmlns:p14="http://schemas.microsoft.com/office/powerpoint/2010/main" val="336753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172279"/>
            <a:ext cx="10364451" cy="960544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SQL Analytics – KPI Overview</a:t>
            </a:r>
            <a:endParaRPr lang="en-US" sz="2800" dirty="0">
              <a:latin typeface="Arial Black" panose="020B0A040201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F963959-14B5-949A-B356-2F6192081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0614" y="1180962"/>
            <a:ext cx="3017612" cy="2710598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4A70655-8921-92A9-A0A2-9659AD2A6A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455" y="4314415"/>
            <a:ext cx="5398092" cy="2500793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9752C59-17AA-4E50-96CC-4BA07B6FD9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20" y="4257389"/>
            <a:ext cx="3711451" cy="2500794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06F3E0A-7F7B-0332-0066-E248C51A4E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1620" y="1195609"/>
            <a:ext cx="3017612" cy="2695951"/>
          </a:xfrm>
          <a:prstGeom prst="roundRect">
            <a:avLst>
              <a:gd name="adj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37268C3-1E8D-FA67-77CF-2F8D23FECB6B}"/>
              </a:ext>
            </a:extLst>
          </p:cNvPr>
          <p:cNvSpPr txBox="1"/>
          <p:nvPr/>
        </p:nvSpPr>
        <p:spPr>
          <a:xfrm>
            <a:off x="198784" y="1350214"/>
            <a:ext cx="3829878" cy="2023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Arial Black" panose="020B0A04020102020204" pitchFamily="34" charset="0"/>
              </a:rPr>
              <a:t>Key KPIs calculated using SQL:</a:t>
            </a:r>
          </a:p>
          <a:p>
            <a:endParaRPr lang="en-GB" sz="1600" dirty="0">
              <a:latin typeface="Arial Black" panose="020B0A040201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 Total Employees: 50,000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Total Attrition Count: 25,105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Overall Attrition Rate: 50.21%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Active Employees: 24,895</a:t>
            </a:r>
          </a:p>
        </p:txBody>
      </p:sp>
    </p:spTree>
    <p:extLst>
      <p:ext uri="{BB962C8B-B14F-4D97-AF65-F5344CB8AC3E}">
        <p14:creationId xmlns:p14="http://schemas.microsoft.com/office/powerpoint/2010/main" val="2224495804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FB17C-0916-6B9F-AFE7-4E8E15F6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E08B-508E-A82A-4C0C-58BF2DE88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59" y="0"/>
            <a:ext cx="9980682" cy="1096962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SQL Analytics – key Insights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0DCB96-BCBE-0C6E-E733-EB48382D9E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360" y="1096962"/>
            <a:ext cx="5760947" cy="332926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4A2803-C458-6019-9C40-912B7F5D5138}"/>
              </a:ext>
            </a:extLst>
          </p:cNvPr>
          <p:cNvSpPr txBox="1"/>
          <p:nvPr/>
        </p:nvSpPr>
        <p:spPr>
          <a:xfrm>
            <a:off x="622852" y="1723444"/>
            <a:ext cx="46862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Arial Black" panose="020B0A04020102020204" pitchFamily="34" charset="0"/>
              </a:rPr>
              <a:t>SQL KPI Validation – Insights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6A214F-7C74-4F13-0A03-6891464BD5F1}"/>
              </a:ext>
            </a:extLst>
          </p:cNvPr>
          <p:cNvSpPr txBox="1"/>
          <p:nvPr/>
        </p:nvSpPr>
        <p:spPr>
          <a:xfrm>
            <a:off x="622852" y="2293311"/>
            <a:ext cx="6505716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SQL validates dashboard KPIs at source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Medium income band shows highest attrition.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Confirms consistency across BI tools.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 Builds stakeholder trust.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82CA7B-A61F-76B9-6F07-2CF8D7A2FDF9}"/>
              </a:ext>
            </a:extLst>
          </p:cNvPr>
          <p:cNvSpPr txBox="1"/>
          <p:nvPr/>
        </p:nvSpPr>
        <p:spPr>
          <a:xfrm>
            <a:off x="530087" y="4762629"/>
            <a:ext cx="12006470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SQL was used to calculate and validate core HR KPIs directly from the database, ensuring accuracy and data reliability.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The SQL results confirm a high attrition level, with nearly half of the total employees leaving the organization.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These validated KPIs align with dashboard insights showing attrition patterns across departments, income ranges, and promotion timelines.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Combining SQL with Excel, Power BI, and Tableau strengthens confidence in the analysis and eliminates reporting inconsistencies.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2C1707-70C5-FE98-6C70-A2F6A7A27537}"/>
              </a:ext>
            </a:extLst>
          </p:cNvPr>
          <p:cNvSpPr txBox="1"/>
          <p:nvPr/>
        </p:nvSpPr>
        <p:spPr>
          <a:xfrm>
            <a:off x="622851" y="4161984"/>
            <a:ext cx="32732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Arial Black" panose="020B0A04020102020204" pitchFamily="34" charset="0"/>
              </a:rPr>
              <a:t>Conclusion</a:t>
            </a:r>
            <a:r>
              <a:rPr lang="en-GB" sz="1800" b="1" dirty="0">
                <a:latin typeface="Arial Black" panose="020B0A04020102020204" pitchFamily="34" charset="0"/>
              </a:rPr>
              <a:t>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95601057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F0ADA-FE9B-9008-DDB8-3ECFA4C87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2671556"/>
            <a:ext cx="5734050" cy="1486804"/>
          </a:xfrm>
        </p:spPr>
        <p:txBody>
          <a:bodyPr>
            <a:normAutofit fontScale="90000"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cap="none" dirty="0">
                <a:latin typeface="Calibri" panose="020F0502020204030204" pitchFamily="34" charset="0"/>
                <a:cs typeface="Calibri" panose="020F0502020204030204" pitchFamily="34" charset="0"/>
              </a:rPr>
              <a:t>End-to-end HR analytics using 4 tools.</a:t>
            </a:r>
            <a:br>
              <a:rPr lang="en-GB" sz="18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800" cap="none" dirty="0">
                <a:latin typeface="Calibri" panose="020F0502020204030204" pitchFamily="34" charset="0"/>
                <a:cs typeface="Calibri" panose="020F0502020204030204" pitchFamily="34" charset="0"/>
              </a:rPr>
              <a:t>Consistent insights validated via SQL</a:t>
            </a:r>
            <a:br>
              <a:rPr lang="en-GB" sz="18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800" cap="none" dirty="0">
                <a:latin typeface="Calibri" panose="020F0502020204030204" pitchFamily="34" charset="0"/>
                <a:cs typeface="Calibri" panose="020F0502020204030204" pitchFamily="34" charset="0"/>
              </a:rPr>
              <a:t>strong focus on business-driven decisions.</a:t>
            </a:r>
            <a:br>
              <a:rPr lang="en-GB" sz="18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N" sz="1800" cap="non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82B6E-9DEF-EA10-A825-663DA1DAE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4900" y="3989270"/>
            <a:ext cx="5734050" cy="955565"/>
          </a:xfrm>
        </p:spPr>
        <p:txBody>
          <a:bodyPr>
            <a:normAutofit fontScale="92500" lnSpcReduction="10000"/>
          </a:bodyPr>
          <a:lstStyle/>
          <a:p>
            <a:r>
              <a:rPr lang="en-GB" sz="1700" dirty="0">
                <a:latin typeface="Arial Black" panose="020B0A04020102020204" pitchFamily="34" charset="0"/>
              </a:rPr>
              <a:t>Outcome: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1700" cap="none" dirty="0">
                <a:latin typeface="Calibri" panose="020F0502020204030204" pitchFamily="34" charset="0"/>
                <a:cs typeface="Calibri" panose="020F0502020204030204" pitchFamily="34" charset="0"/>
              </a:rPr>
              <a:t>Actionable HR insights &amp; improved</a:t>
            </a:r>
          </a:p>
          <a:p>
            <a:r>
              <a:rPr lang="en-GB" sz="1700" cap="none" dirty="0">
                <a:latin typeface="Calibri" panose="020F0502020204030204" pitchFamily="34" charset="0"/>
                <a:cs typeface="Calibri" panose="020F0502020204030204" pitchFamily="34" charset="0"/>
              </a:rPr>
              <a:t>Stakeholder-ready analytics storytelling.</a:t>
            </a:r>
          </a:p>
          <a:p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CB0E3C31-E6B1-46EB-1089-362BA774EA2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3" r="8733"/>
          <a:stretch>
            <a:fillRect/>
          </a:stretch>
        </p:blipFill>
        <p:spPr/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40DB68-3859-73A3-5BE1-A3A4663A986C}"/>
              </a:ext>
            </a:extLst>
          </p:cNvPr>
          <p:cNvSpPr txBox="1"/>
          <p:nvPr/>
        </p:nvSpPr>
        <p:spPr>
          <a:xfrm>
            <a:off x="1104900" y="2228718"/>
            <a:ext cx="6116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Arial Black" panose="020B0A04020102020204" pitchFamily="34" charset="0"/>
              </a:rPr>
              <a:t>Conclusion</a:t>
            </a:r>
            <a:r>
              <a:rPr lang="en-GB" sz="1800" dirty="0">
                <a:latin typeface="Arial Black" panose="020B0A04020102020204" pitchFamily="34" charset="0"/>
              </a:rPr>
              <a:t>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6241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F59E45-5F4A-10FB-02AE-79B69B9D3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23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1505</TotalTime>
  <Words>693</Words>
  <Application>Microsoft Office PowerPoint</Application>
  <PresentationFormat>Widescreen</PresentationFormat>
  <Paragraphs>99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Black</vt:lpstr>
      <vt:lpstr>Arial Narrow</vt:lpstr>
      <vt:lpstr>Calibri</vt:lpstr>
      <vt:lpstr>Euphemia</vt:lpstr>
      <vt:lpstr>Tw Cen MT</vt:lpstr>
      <vt:lpstr>Wingdings</vt:lpstr>
      <vt:lpstr>Droplet</vt:lpstr>
      <vt:lpstr>HR Analytics Dashboard Portfolio</vt:lpstr>
      <vt:lpstr>Project Overview</vt:lpstr>
      <vt:lpstr>EXCEL HR ANALYTICS </vt:lpstr>
      <vt:lpstr>Excel Dashboard</vt:lpstr>
      <vt:lpstr>Power bi hr analytics </vt:lpstr>
      <vt:lpstr>Power bi dashboard</vt:lpstr>
      <vt:lpstr>Tableau HR Analytics </vt:lpstr>
      <vt:lpstr>Tableau HR Analytics Dashboard</vt:lpstr>
      <vt:lpstr>SQL Analytics – KPI Overview</vt:lpstr>
      <vt:lpstr>SQL Analytics – key Insights</vt:lpstr>
      <vt:lpstr>End-to-end HR analytics using 4 tools. Consistent insights validated via SQL strong focus on business-driven decisions.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sailaksmi kanamarlapudi</dc:creator>
  <cp:lastModifiedBy>Kanamarlapudi Sailakshmi</cp:lastModifiedBy>
  <cp:revision>26</cp:revision>
  <dcterms:created xsi:type="dcterms:W3CDTF">2026-01-03T09:17:44Z</dcterms:created>
  <dcterms:modified xsi:type="dcterms:W3CDTF">2026-01-08T09:48:51Z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